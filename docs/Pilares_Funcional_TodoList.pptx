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7db0bad-989a-4b02-b380-f069faf71ce3}">
          <p14:sldIdLst>
            <p14:sldId id="256"/>
          </p14:sldIdLst>
        </p14:section>
        <p14:section name="Projeto" id="{009d3497-3894-ec02-bf01-892a2a8d73f5}">
          <p14:sldIdLst>
            <p14:sldId id="257"/>
            <p14:sldId id="258"/>
            <p14:sldId id="259"/>
          </p14:sldIdLst>
        </p14:section>
        <p14:section name="Pilares" id="{ea6aa390-5a1d-159e-07e0-bb061f343d3b}">
          <p14:sldIdLst>
            <p14:sldId id="260"/>
            <p14:sldId id="261"/>
            <p14:sldId id="262"/>
            <p14:sldId id="263"/>
            <p14:sldId id="264"/>
          </p14:sldIdLst>
        </p14:section>
        <p14:section name="Comparação" id="{fa5bceef-6552-3b4e-ebbc-032a02db19a5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trabalho: depois da versão em C# orientada a objetos, reescrevemos o back-end da To-Do List em F#, no paradigma funcional. Vamos mostrar os quatro pilares da programação funcional com exemplos reais do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front-end não mudou. A requisição chega nas rotas, que chamam funções do serviço, que usam o repositório. Não há classes nem contêiner de injeção de dependência: o Program.fs cria o repositório (memória ou SQLite, conforme a configuração) e o passa como parâmetro.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as mesmas rotas das versões em Java e C#, por isso o front-end continuou funcionando sem nenhuma alteração. A diferença é que cada rota chama uma função, e o resultado (Ok ou Error) vira a resposta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Pré-requisito: .NET 8 SDK. Na pasta do projeto, dotnet run restaura os pacotes, compila os arquivos F# na ordem definida no TodoList.fsproj e sobe o servidor na porta 8080. Por padrão os dados ficam no SQLite; com Repositorio=memoria eles ficam só em memória e somem ao reiniciar.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dos quatro pilares do paradigma funcional. Nos próximos slides, cada um aparece com um trecho do código F# que desenvolvemos.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versão C#, AlternarStatus mudava o campo _completed do próprio objeto. Em F#, a tarefa original continua igual: alternarStatus devolve uma cópia com Completed invertido. O mesmo vale para o repositório em memória, que troca um Map imutável por outro a cada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validar e salvar são puras: chamadas com os mesmos parâmetros, devolvem sempre o mesmo resultado, o que facilita testar e entender. A única mutação do repositório em memória está em transicionar, que troca o estado atual pelo novo estado calculado de forma pura.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operador |&gt; passa o resultado de uma função para a próxima, então o código lê na ordem em que acontece. Result.map só aplica o próximo passo se o anterior deu certo. O repositório deixa de ser uma interface e vira um record de funções: Memoria.criar e Sqlite.criar devolvem esse record, e ele é passado como parâmetro para o serviço.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C#, cada exceção filha sobrescrevia StatusCode (polimorfismo). Em F#, os erros são casos de uma union, e a função statusCode decide o código HTTP com match. Se um caso novo for adicionado ao TodoErro e não for tratado, o compilador avisa. Nenhuma exceção é lançada: o erro volta como valor dentro do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da transcrição: cada conceito de POO usado na versão C# tem um equivalente funcional em F#. O comportamento da API ficou idêntico, o que mostra que a mudança foi só de paradigma.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6868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List em F# · Paradigma Funcional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Funcional F#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List: F# no paradigma funcional.</a:t>
            </a:r>
            <a:endParaRPr lang="en-US" sz="2000" dirty="0"/>
          </a:p>
        </p:txBody>
      </p:sp>
      <p:sp>
        <p:nvSpPr>
          <p:cNvPr id="4" name="Capa círculo"/>
          <p:cNvSpPr/>
          <p:nvPr/>
        </p:nvSpPr>
        <p:spPr>
          <a:xfrm>
            <a:off x="9144000" y="233172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apa ícone" descr="Lamb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9260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 back-end em F#</a:t>
            </a:r>
            <a:endParaRPr lang="en-US" sz="3200" dirty="0"/>
          </a:p>
        </p:txBody>
      </p:sp>
      <p:sp>
        <p:nvSpPr>
          <p:cNvPr id="3" name="Arquitetura subtítulo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Cada camada é um módulo de funções; o repositório é passado como parâmetro de uma camada para a outra</a:t>
            </a:r>
            <a:endParaRPr lang="en-US" sz="1600" dirty="0"/>
          </a:p>
        </p:txBody>
      </p:sp>
      <p:sp>
        <p:nvSpPr>
          <p:cNvPr id="4" name="Front-end caixa"/>
          <p:cNvSpPr/>
          <p:nvPr/>
        </p:nvSpPr>
        <p:spPr>
          <a:xfrm>
            <a:off x="548640" y="2286000"/>
            <a:ext cx="2148840" cy="1554480"/>
          </a:xfrm>
          <a:prstGeom prst="roundRect">
            <a:avLst>
              <a:gd name="adj" fmla="val 4706"/>
            </a:avLst>
          </a:prstGeom>
          <a:solidFill>
            <a:schemeClr val="accent6"/>
          </a:solidFill>
          <a:ln/>
        </p:spPr>
      </p:sp>
      <p:sp>
        <p:nvSpPr>
          <p:cNvPr id="5" name="Front-end texto"/>
          <p:cNvSpPr txBox="1"/>
          <p:nvPr/>
        </p:nvSpPr>
        <p:spPr>
          <a:xfrm>
            <a:off x="685800" y="242316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Front-end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wwwroot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HTML · CSS · JS</a:t>
            </a:r>
            <a:endParaRPr lang="en-US" sz="1700" dirty="0"/>
          </a:p>
        </p:txBody>
      </p:sp>
      <p:sp>
        <p:nvSpPr>
          <p:cNvPr id="6" name="Seta 1"/>
          <p:cNvSpPr/>
          <p:nvPr/>
        </p:nvSpPr>
        <p:spPr>
          <a:xfrm>
            <a:off x="2788920" y="2898648"/>
            <a:ext cx="320040" cy="32918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7" name="Http/Rotas.fs caixa"/>
          <p:cNvSpPr/>
          <p:nvPr/>
        </p:nvSpPr>
        <p:spPr>
          <a:xfrm>
            <a:off x="3200400" y="2286000"/>
            <a:ext cx="214884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/>
        </p:spPr>
      </p:sp>
      <p:sp>
        <p:nvSpPr>
          <p:cNvPr id="8" name="Http/Rotas.fs texto"/>
          <p:cNvSpPr txBox="1"/>
          <p:nvPr/>
        </p:nvSpPr>
        <p:spPr>
          <a:xfrm>
            <a:off x="3337560" y="242316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Http/Rotas.fs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Traduz HTTP em chamadas e Result em resposta</a:t>
            </a:r>
            <a:endParaRPr lang="en-US" sz="1700" dirty="0"/>
          </a:p>
        </p:txBody>
      </p:sp>
      <p:sp>
        <p:nvSpPr>
          <p:cNvPr id="9" name="Seta 2"/>
          <p:cNvSpPr/>
          <p:nvPr/>
        </p:nvSpPr>
        <p:spPr>
          <a:xfrm>
            <a:off x="5440680" y="2898648"/>
            <a:ext cx="320040" cy="32918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0" name="TodoService caixa"/>
          <p:cNvSpPr/>
          <p:nvPr/>
        </p:nvSpPr>
        <p:spPr>
          <a:xfrm>
            <a:off x="5852160" y="2286000"/>
            <a:ext cx="214884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/>
        </p:spPr>
      </p:sp>
      <p:sp>
        <p:nvSpPr>
          <p:cNvPr id="11" name="TodoService texto"/>
          <p:cNvSpPr txBox="1"/>
          <p:nvPr/>
        </p:nvSpPr>
        <p:spPr>
          <a:xfrm>
            <a:off x="5989320" y="242316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TodoService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Funções de regra de negócio</a:t>
            </a:r>
            <a:endParaRPr lang="en-US" sz="1700" dirty="0"/>
          </a:p>
        </p:txBody>
      </p:sp>
      <p:sp>
        <p:nvSpPr>
          <p:cNvPr id="12" name="Seta 3"/>
          <p:cNvSpPr/>
          <p:nvPr/>
        </p:nvSpPr>
        <p:spPr>
          <a:xfrm>
            <a:off x="8092440" y="2898648"/>
            <a:ext cx="320040" cy="32918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3" name="TodoRepository caixa"/>
          <p:cNvSpPr/>
          <p:nvPr/>
        </p:nvSpPr>
        <p:spPr>
          <a:xfrm>
            <a:off x="8503920" y="2286000"/>
            <a:ext cx="2148840" cy="1554480"/>
          </a:xfrm>
          <a:prstGeom prst="roundRect">
            <a:avLst>
              <a:gd name="adj" fmla="val 4706"/>
            </a:avLst>
          </a:prstGeom>
          <a:solidFill>
            <a:schemeClr val="accent2"/>
          </a:solidFill>
          <a:ln/>
        </p:spPr>
      </p:sp>
      <p:sp>
        <p:nvSpPr>
          <p:cNvPr id="14" name="TodoRepository texto"/>
          <p:cNvSpPr txBox="1"/>
          <p:nvPr/>
        </p:nvSpPr>
        <p:spPr>
          <a:xfrm>
            <a:off x="8641080" y="242316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TodoRepository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Record de funções de acesso aos dados</a:t>
            </a:r>
            <a:endParaRPr lang="en-US" sz="1700" dirty="0"/>
          </a:p>
        </p:txBody>
      </p:sp>
      <p:sp>
        <p:nvSpPr>
          <p:cNvPr id="15" name="Linha vertical"/>
          <p:cNvSpPr/>
          <p:nvPr/>
        </p:nvSpPr>
        <p:spPr>
          <a:xfrm>
            <a:off x="9573768" y="3840480"/>
            <a:ext cx="0" cy="411480"/>
          </a:xfrm>
          <a:prstGeom prst="line">
            <a:avLst/>
          </a:prstGeom>
          <a:noFill/>
          <a:ln w="19050">
            <a:solidFill>
              <a:srgbClr val="00A396"/>
            </a:solidFill>
            <a:prstDash val="solid"/>
          </a:ln>
        </p:spPr>
      </p:sp>
      <p:sp>
        <p:nvSpPr>
          <p:cNvPr id="16" name="Linha horizontal"/>
          <p:cNvSpPr/>
          <p:nvPr/>
        </p:nvSpPr>
        <p:spPr>
          <a:xfrm>
            <a:off x="7251192" y="4251960"/>
            <a:ext cx="3017520" cy="0"/>
          </a:xfrm>
          <a:prstGeom prst="line">
            <a:avLst/>
          </a:prstGeom>
          <a:noFill/>
          <a:ln w="19050">
            <a:solidFill>
              <a:srgbClr val="00A396"/>
            </a:solidFill>
            <a:prstDash val="solid"/>
          </a:ln>
        </p:spPr>
      </p:sp>
      <p:sp>
        <p:nvSpPr>
          <p:cNvPr id="17" name="Linha implementação 1"/>
          <p:cNvSpPr/>
          <p:nvPr/>
        </p:nvSpPr>
        <p:spPr>
          <a:xfrm>
            <a:off x="7251192" y="4251960"/>
            <a:ext cx="0" cy="411480"/>
          </a:xfrm>
          <a:prstGeom prst="line">
            <a:avLst/>
          </a:prstGeom>
          <a:noFill/>
          <a:ln w="19050">
            <a:solidFill>
              <a:srgbClr val="00A396"/>
            </a:solidFill>
            <a:prstDash val="solid"/>
            <a:tailEnd type="triangle"/>
          </a:ln>
        </p:spPr>
      </p:sp>
      <p:sp>
        <p:nvSpPr>
          <p:cNvPr id="18" name="Memoria.criar () caixa"/>
          <p:cNvSpPr/>
          <p:nvPr/>
        </p:nvSpPr>
        <p:spPr>
          <a:xfrm>
            <a:off x="5879592" y="4663440"/>
            <a:ext cx="2743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Memoria.criar () texto"/>
          <p:cNvSpPr txBox="1"/>
          <p:nvPr/>
        </p:nvSpPr>
        <p:spPr>
          <a:xfrm>
            <a:off x="5971032" y="47548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Memoria.criar ()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Map imutável em memória</a:t>
            </a:r>
            <a:endParaRPr lang="en-US" sz="1400" dirty="0"/>
          </a:p>
        </p:txBody>
      </p:sp>
      <p:sp>
        <p:nvSpPr>
          <p:cNvPr id="20" name="Linha implementação 2"/>
          <p:cNvSpPr/>
          <p:nvPr/>
        </p:nvSpPr>
        <p:spPr>
          <a:xfrm>
            <a:off x="10268712" y="4251960"/>
            <a:ext cx="0" cy="411480"/>
          </a:xfrm>
          <a:prstGeom prst="line">
            <a:avLst/>
          </a:prstGeom>
          <a:noFill/>
          <a:ln w="19050">
            <a:solidFill>
              <a:srgbClr val="00A396"/>
            </a:solidFill>
            <a:prstDash val="solid"/>
            <a:tailEnd type="triangle"/>
          </a:ln>
        </p:spPr>
      </p:sp>
      <p:sp>
        <p:nvSpPr>
          <p:cNvPr id="21" name="Sqlite.criar caixa"/>
          <p:cNvSpPr/>
          <p:nvPr/>
        </p:nvSpPr>
        <p:spPr>
          <a:xfrm>
            <a:off x="8897112" y="4663440"/>
            <a:ext cx="2743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2" name="Sqlite.criar texto"/>
          <p:cNvSpPr txBox="1"/>
          <p:nvPr/>
        </p:nvSpPr>
        <p:spPr>
          <a:xfrm>
            <a:off x="8988552" y="47548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Sqlite.criar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Banco SQLite (ADO.NET)</a:t>
            </a:r>
            <a:endParaRPr lang="en-US" sz="1400" dirty="0"/>
          </a:p>
        </p:txBody>
      </p:sp>
      <p:sp>
        <p:nvSpPr>
          <p:cNvPr id="23" name="Legenda implementações"/>
          <p:cNvSpPr txBox="1"/>
          <p:nvPr/>
        </p:nvSpPr>
        <p:spPr>
          <a:xfrm>
            <a:off x="548640" y="4800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Implementações: funções que devolvem um TodoRepository, escolhidas pela configuração "Repositorio"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 da API usadas pelo front-end</a:t>
            </a:r>
            <a:endParaRPr lang="en-US" sz="3200" dirty="0"/>
          </a:p>
        </p:txBody>
      </p:sp>
      <p:graphicFrame>
        <p:nvGraphicFramePr>
          <p:cNvPr id="4" name="Tabela de ro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06040"/>
                <a:gridCol w="4206240"/>
                <a:gridCol w="30906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no serviço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/todos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todas as tarefas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TodoService.listarTarefas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/todos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 uma tarefa (400 se o título for vazio)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TodoService.criarTarefa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/todos/{id}/toggle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 concluída / pendente (404 se não existir)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TodoService.alternarStatus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/todos/{id}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uma tarefa (404 se não existir)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TodoService.removerTarefa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Observação erros"/>
          <p:cNvSpPr txBox="1"/>
          <p:nvPr/>
        </p:nvSpPr>
        <p:spPr>
          <a:xfrm>
            <a:off x="548640" y="5120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Os erros voltam em JSON, por exemplo { "erro": "tarefa não encontrada" }, com o status HTTP escolhido por pattern matching sobre o tipo TodoErro.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rodar a aplicação</a:t>
            </a:r>
            <a:endParaRPr lang="en-US" sz="3200" dirty="0"/>
          </a:p>
        </p:txBody>
      </p:sp>
      <p:sp>
        <p:nvSpPr>
          <p:cNvPr id="3" name="Passo 1 círculo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Passo 1 número"/>
          <p:cNvSpPr txBox="1"/>
          <p:nvPr/>
        </p:nvSpPr>
        <p:spPr>
          <a:xfrm>
            <a:off x="5486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Passo 1 texto"/>
          <p:cNvSpPr txBox="1"/>
          <p:nvPr/>
        </p:nvSpPr>
        <p:spPr>
          <a:xfrm>
            <a:off x="1371600" y="1325880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Instalar o .NET 8 SDK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Confira com: dotnet --version</a:t>
            </a:r>
            <a:endParaRPr lang="en-US" sz="1700" dirty="0"/>
          </a:p>
        </p:txBody>
      </p:sp>
      <p:sp>
        <p:nvSpPr>
          <p:cNvPr id="6" name="Passo 1 comando fundo"/>
          <p:cNvSpPr/>
          <p:nvPr/>
        </p:nvSpPr>
        <p:spPr>
          <a:xfrm>
            <a:off x="4526280" y="1527048"/>
            <a:ext cx="3246120" cy="603504"/>
          </a:xfrm>
          <a:prstGeom prst="roundRect">
            <a:avLst>
              <a:gd name="adj" fmla="val 12121"/>
            </a:avLst>
          </a:prstGeom>
          <a:solidFill>
            <a:schemeClr val="accent5"/>
          </a:solidFill>
          <a:ln/>
        </p:spPr>
      </p:sp>
      <p:sp>
        <p:nvSpPr>
          <p:cNvPr id="7" name="Passo 1 comando"/>
          <p:cNvSpPr txBox="1"/>
          <p:nvPr/>
        </p:nvSpPr>
        <p:spPr>
          <a:xfrm>
            <a:off x="4681728" y="152704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dotnet.microsoft.com/download</a:t>
            </a:r>
            <a:endParaRPr lang="en-US" sz="1300" dirty="0"/>
          </a:p>
        </p:txBody>
      </p:sp>
      <p:sp>
        <p:nvSpPr>
          <p:cNvPr id="8" name="Passo 2 círculo"/>
          <p:cNvSpPr/>
          <p:nvPr/>
        </p:nvSpPr>
        <p:spPr>
          <a:xfrm>
            <a:off x="548640" y="26700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asso 2 número"/>
          <p:cNvSpPr txBox="1"/>
          <p:nvPr/>
        </p:nvSpPr>
        <p:spPr>
          <a:xfrm>
            <a:off x="548640" y="2670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Passo 2 texto"/>
          <p:cNvSpPr txBox="1"/>
          <p:nvPr/>
        </p:nvSpPr>
        <p:spPr>
          <a:xfrm>
            <a:off x="1371600" y="2487168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Abrir a pasta do projeto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Pasta onde está o arquivo TodoList.fsproj</a:t>
            </a:r>
            <a:endParaRPr lang="en-US" sz="1700" dirty="0"/>
          </a:p>
        </p:txBody>
      </p:sp>
      <p:sp>
        <p:nvSpPr>
          <p:cNvPr id="11" name="Passo 2 comando fundo"/>
          <p:cNvSpPr/>
          <p:nvPr/>
        </p:nvSpPr>
        <p:spPr>
          <a:xfrm>
            <a:off x="4526280" y="2688336"/>
            <a:ext cx="3246120" cy="603504"/>
          </a:xfrm>
          <a:prstGeom prst="roundRect">
            <a:avLst>
              <a:gd name="adj" fmla="val 12121"/>
            </a:avLst>
          </a:prstGeom>
          <a:solidFill>
            <a:schemeClr val="accent5"/>
          </a:solidFill>
          <a:ln/>
        </p:spPr>
      </p:sp>
      <p:sp>
        <p:nvSpPr>
          <p:cNvPr id="12" name="Passo 2 comando"/>
          <p:cNvSpPr txBox="1"/>
          <p:nvPr/>
        </p:nvSpPr>
        <p:spPr>
          <a:xfrm>
            <a:off x="4681728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todolist-F#</a:t>
            </a:r>
            <a:endParaRPr lang="en-US" sz="1300" dirty="0"/>
          </a:p>
        </p:txBody>
      </p:sp>
      <p:sp>
        <p:nvSpPr>
          <p:cNvPr id="13" name="Passo 3 círculo"/>
          <p:cNvSpPr/>
          <p:nvPr/>
        </p:nvSpPr>
        <p:spPr>
          <a:xfrm>
            <a:off x="548640" y="383133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Passo 3 número"/>
          <p:cNvSpPr txBox="1"/>
          <p:nvPr/>
        </p:nvSpPr>
        <p:spPr>
          <a:xfrm>
            <a:off x="548640" y="3831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Passo 3 texto"/>
          <p:cNvSpPr txBox="1"/>
          <p:nvPr/>
        </p:nvSpPr>
        <p:spPr>
          <a:xfrm>
            <a:off x="1371600" y="3648456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Executar a aplicação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Compila os arquivos .fs na ordem do .fsproj e sobe o servidor</a:t>
            </a:r>
            <a:endParaRPr lang="en-US" sz="1700" dirty="0"/>
          </a:p>
        </p:txBody>
      </p:sp>
      <p:sp>
        <p:nvSpPr>
          <p:cNvPr id="16" name="Passo 3 comando fundo"/>
          <p:cNvSpPr/>
          <p:nvPr/>
        </p:nvSpPr>
        <p:spPr>
          <a:xfrm>
            <a:off x="4526280" y="3849624"/>
            <a:ext cx="3246120" cy="603504"/>
          </a:xfrm>
          <a:prstGeom prst="roundRect">
            <a:avLst>
              <a:gd name="adj" fmla="val 12121"/>
            </a:avLst>
          </a:prstGeom>
          <a:solidFill>
            <a:schemeClr val="accent5"/>
          </a:solidFill>
          <a:ln/>
        </p:spPr>
      </p:sp>
      <p:sp>
        <p:nvSpPr>
          <p:cNvPr id="17" name="Passo 3 comando"/>
          <p:cNvSpPr txBox="1"/>
          <p:nvPr/>
        </p:nvSpPr>
        <p:spPr>
          <a:xfrm>
            <a:off x="4681728" y="384962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</a:t>
            </a:r>
            <a:endParaRPr lang="en-US" sz="1300" dirty="0"/>
          </a:p>
        </p:txBody>
      </p:sp>
      <p:sp>
        <p:nvSpPr>
          <p:cNvPr id="18" name="Passo 4 círculo"/>
          <p:cNvSpPr/>
          <p:nvPr/>
        </p:nvSpPr>
        <p:spPr>
          <a:xfrm>
            <a:off x="548640" y="499262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Passo 4 número"/>
          <p:cNvSpPr txBox="1"/>
          <p:nvPr/>
        </p:nvSpPr>
        <p:spPr>
          <a:xfrm>
            <a:off x="548640" y="49926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Passo 4 texto"/>
          <p:cNvSpPr txBox="1"/>
          <p:nvPr/>
        </p:nvSpPr>
        <p:spPr>
          <a:xfrm>
            <a:off x="1371600" y="4809744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Abrir no navegador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 front-end e a API rodam no mesmo endereço</a:t>
            </a:r>
            <a:endParaRPr lang="en-US" sz="1700" dirty="0"/>
          </a:p>
        </p:txBody>
      </p:sp>
      <p:sp>
        <p:nvSpPr>
          <p:cNvPr id="21" name="Passo 4 comando fundo"/>
          <p:cNvSpPr/>
          <p:nvPr/>
        </p:nvSpPr>
        <p:spPr>
          <a:xfrm>
            <a:off x="4526280" y="5010912"/>
            <a:ext cx="3246120" cy="603504"/>
          </a:xfrm>
          <a:prstGeom prst="roundRect">
            <a:avLst>
              <a:gd name="adj" fmla="val 12121"/>
            </a:avLst>
          </a:prstGeom>
          <a:solidFill>
            <a:schemeClr val="accent5"/>
          </a:solidFill>
          <a:ln/>
        </p:spPr>
      </p:sp>
      <p:sp>
        <p:nvSpPr>
          <p:cNvPr id="22" name="Passo 4 comando"/>
          <p:cNvSpPr txBox="1"/>
          <p:nvPr/>
        </p:nvSpPr>
        <p:spPr>
          <a:xfrm>
            <a:off x="4681728" y="501091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1300" dirty="0"/>
          </a:p>
        </p:txBody>
      </p:sp>
      <p:sp>
        <p:nvSpPr>
          <p:cNvPr id="23" name="Opções cartão"/>
          <p:cNvSpPr/>
          <p:nvPr/>
        </p:nvSpPr>
        <p:spPr>
          <a:xfrm>
            <a:off x="8074152" y="1325880"/>
            <a:ext cx="3566160" cy="4507992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24" name="Opções título"/>
          <p:cNvSpPr txBox="1"/>
          <p:nvPr/>
        </p:nvSpPr>
        <p:spPr>
          <a:xfrm>
            <a:off x="8348472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Opções</a:t>
            </a:r>
            <a:endParaRPr lang="en-US" sz="1800" dirty="0"/>
          </a:p>
        </p:txBody>
      </p:sp>
      <p:sp>
        <p:nvSpPr>
          <p:cNvPr id="25" name="Opções texto"/>
          <p:cNvSpPr txBox="1"/>
          <p:nvPr/>
        </p:nvSpPr>
        <p:spPr>
          <a:xfrm>
            <a:off x="8348472" y="2057400"/>
            <a:ext cx="310896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Guardar só em memória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Repositorio=memoria dotnet run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Trocar a porta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PORT=5000 dotnet run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Banco padrão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SQLite em data/tododb.db, criado automaticamente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quatro pilares do paradigma funcional</a:t>
            </a:r>
            <a:endParaRPr lang="en-US" sz="3200" dirty="0"/>
          </a:p>
        </p:txBody>
      </p:sp>
      <p:sp>
        <p:nvSpPr>
          <p:cNvPr id="3" name="Imutabilidade cartão"/>
          <p:cNvSpPr/>
          <p:nvPr/>
        </p:nvSpPr>
        <p:spPr>
          <a:xfrm>
            <a:off x="548640" y="1554480"/>
            <a:ext cx="2569464" cy="4206240"/>
          </a:xfrm>
          <a:prstGeom prst="roundRect">
            <a:avLst>
              <a:gd name="adj" fmla="val 4270"/>
            </a:avLst>
          </a:prstGeom>
          <a:solidFill>
            <a:schemeClr val="bg2"/>
          </a:solidFill>
          <a:ln/>
        </p:spPr>
      </p:sp>
      <p:sp>
        <p:nvSpPr>
          <p:cNvPr id="4" name="Imutabilidade círculo"/>
          <p:cNvSpPr/>
          <p:nvPr/>
        </p:nvSpPr>
        <p:spPr>
          <a:xfrm>
            <a:off x="1284732" y="20116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utabilidade ícone" descr="Imutabilidade 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052" y="2286000"/>
            <a:ext cx="548640" cy="548640"/>
          </a:xfrm>
          <a:prstGeom prst="rect">
            <a:avLst/>
          </a:prstGeom>
        </p:spPr>
      </p:pic>
      <p:sp>
        <p:nvSpPr>
          <p:cNvPr id="6" name="Imutabilidade número"/>
          <p:cNvSpPr txBox="1"/>
          <p:nvPr/>
        </p:nvSpPr>
        <p:spPr>
          <a:xfrm>
            <a:off x="548640" y="329184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Imutabilidade título"/>
          <p:cNvSpPr txBox="1"/>
          <p:nvPr/>
        </p:nvSpPr>
        <p:spPr>
          <a:xfrm>
            <a:off x="685800" y="37947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Imutabilidade</a:t>
            </a:r>
            <a:endParaRPr lang="en-US" sz="2000" dirty="0"/>
          </a:p>
        </p:txBody>
      </p:sp>
      <p:sp>
        <p:nvSpPr>
          <p:cNvPr id="8" name="Imutabilidade resumo"/>
          <p:cNvSpPr txBox="1"/>
          <p:nvPr/>
        </p:nvSpPr>
        <p:spPr>
          <a:xfrm>
            <a:off x="822960" y="4343400"/>
            <a:ext cx="2020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Valores não mudam: alterar gera uma cópia nova</a:t>
            </a:r>
            <a:endParaRPr lang="en-US" sz="1500" dirty="0"/>
          </a:p>
        </p:txBody>
      </p:sp>
      <p:sp>
        <p:nvSpPr>
          <p:cNvPr id="9" name="Funções puras cartão"/>
          <p:cNvSpPr/>
          <p:nvPr/>
        </p:nvSpPr>
        <p:spPr>
          <a:xfrm>
            <a:off x="3387852" y="1554480"/>
            <a:ext cx="2569464" cy="4206240"/>
          </a:xfrm>
          <a:prstGeom prst="roundRect">
            <a:avLst>
              <a:gd name="adj" fmla="val 4270"/>
            </a:avLst>
          </a:prstGeom>
          <a:solidFill>
            <a:schemeClr val="bg2"/>
          </a:solidFill>
          <a:ln/>
        </p:spPr>
      </p:sp>
      <p:sp>
        <p:nvSpPr>
          <p:cNvPr id="10" name="Funções puras círculo"/>
          <p:cNvSpPr/>
          <p:nvPr/>
        </p:nvSpPr>
        <p:spPr>
          <a:xfrm>
            <a:off x="4123944" y="201168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Funções puras ícone" descr="Funções puras 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2286000"/>
            <a:ext cx="548640" cy="548640"/>
          </a:xfrm>
          <a:prstGeom prst="rect">
            <a:avLst/>
          </a:prstGeom>
        </p:spPr>
      </p:pic>
      <p:sp>
        <p:nvSpPr>
          <p:cNvPr id="12" name="Funções puras número"/>
          <p:cNvSpPr txBox="1"/>
          <p:nvPr/>
        </p:nvSpPr>
        <p:spPr>
          <a:xfrm>
            <a:off x="3387852" y="329184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Funções puras título"/>
          <p:cNvSpPr txBox="1"/>
          <p:nvPr/>
        </p:nvSpPr>
        <p:spPr>
          <a:xfrm>
            <a:off x="3525012" y="37947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Funções puras</a:t>
            </a:r>
            <a:endParaRPr lang="en-US" sz="2000" dirty="0"/>
          </a:p>
        </p:txBody>
      </p:sp>
      <p:sp>
        <p:nvSpPr>
          <p:cNvPr id="14" name="Funções puras resumo"/>
          <p:cNvSpPr txBox="1"/>
          <p:nvPr/>
        </p:nvSpPr>
        <p:spPr>
          <a:xfrm>
            <a:off x="3662172" y="4343400"/>
            <a:ext cx="2020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Mesma entrada, mesma saída, sem efeitos colaterais</a:t>
            </a:r>
            <a:endParaRPr lang="en-US" sz="1500" dirty="0"/>
          </a:p>
        </p:txBody>
      </p:sp>
      <p:sp>
        <p:nvSpPr>
          <p:cNvPr id="15" name="Composição cartão"/>
          <p:cNvSpPr/>
          <p:nvPr/>
        </p:nvSpPr>
        <p:spPr>
          <a:xfrm>
            <a:off x="6227064" y="1554480"/>
            <a:ext cx="2569464" cy="4206240"/>
          </a:xfrm>
          <a:prstGeom prst="roundRect">
            <a:avLst>
              <a:gd name="adj" fmla="val 4270"/>
            </a:avLst>
          </a:prstGeom>
          <a:solidFill>
            <a:schemeClr val="bg2"/>
          </a:solidFill>
          <a:ln/>
        </p:spPr>
      </p:sp>
      <p:sp>
        <p:nvSpPr>
          <p:cNvPr id="16" name="Composição círculo"/>
          <p:cNvSpPr/>
          <p:nvPr/>
        </p:nvSpPr>
        <p:spPr>
          <a:xfrm>
            <a:off x="6963156" y="2011680"/>
            <a:ext cx="1097280" cy="10972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Composição ícone" descr="Composição 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76" y="2286000"/>
            <a:ext cx="548640" cy="548640"/>
          </a:xfrm>
          <a:prstGeom prst="rect">
            <a:avLst/>
          </a:prstGeom>
        </p:spPr>
      </p:pic>
      <p:sp>
        <p:nvSpPr>
          <p:cNvPr id="18" name="Composição número"/>
          <p:cNvSpPr txBox="1"/>
          <p:nvPr/>
        </p:nvSpPr>
        <p:spPr>
          <a:xfrm>
            <a:off x="6227064" y="329184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3</a:t>
            </a:r>
            <a:endParaRPr lang="en-US" sz="2800" dirty="0"/>
          </a:p>
        </p:txBody>
      </p:sp>
      <p:sp>
        <p:nvSpPr>
          <p:cNvPr id="19" name="Composição título"/>
          <p:cNvSpPr txBox="1"/>
          <p:nvPr/>
        </p:nvSpPr>
        <p:spPr>
          <a:xfrm>
            <a:off x="6364224" y="37947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Composição</a:t>
            </a:r>
            <a:endParaRPr lang="en-US" sz="2000" dirty="0"/>
          </a:p>
        </p:txBody>
      </p:sp>
      <p:sp>
        <p:nvSpPr>
          <p:cNvPr id="20" name="Composição resumo"/>
          <p:cNvSpPr txBox="1"/>
          <p:nvPr/>
        </p:nvSpPr>
        <p:spPr>
          <a:xfrm>
            <a:off x="6501384" y="4343400"/>
            <a:ext cx="2020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Funções como valores, passadas adiante e encadeadas com |&gt;</a:t>
            </a:r>
            <a:endParaRPr lang="en-US" sz="1500" dirty="0"/>
          </a:p>
        </p:txBody>
      </p:sp>
      <p:sp>
        <p:nvSpPr>
          <p:cNvPr id="21" name="Pattern matching cartão"/>
          <p:cNvSpPr/>
          <p:nvPr/>
        </p:nvSpPr>
        <p:spPr>
          <a:xfrm>
            <a:off x="9066276" y="1554480"/>
            <a:ext cx="2569464" cy="4206240"/>
          </a:xfrm>
          <a:prstGeom prst="roundRect">
            <a:avLst>
              <a:gd name="adj" fmla="val 4270"/>
            </a:avLst>
          </a:prstGeom>
          <a:solidFill>
            <a:schemeClr val="bg2"/>
          </a:solidFill>
          <a:ln/>
        </p:spPr>
      </p:sp>
      <p:sp>
        <p:nvSpPr>
          <p:cNvPr id="22" name="Pattern matching círculo"/>
          <p:cNvSpPr/>
          <p:nvPr/>
        </p:nvSpPr>
        <p:spPr>
          <a:xfrm>
            <a:off x="9802368" y="2011680"/>
            <a:ext cx="1097280" cy="10972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Pattern matching ícone" descr="Pattern matching 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88" y="2286000"/>
            <a:ext cx="548640" cy="548640"/>
          </a:xfrm>
          <a:prstGeom prst="rect">
            <a:avLst/>
          </a:prstGeom>
        </p:spPr>
      </p:pic>
      <p:sp>
        <p:nvSpPr>
          <p:cNvPr id="24" name="Pattern matching número"/>
          <p:cNvSpPr txBox="1"/>
          <p:nvPr/>
        </p:nvSpPr>
        <p:spPr>
          <a:xfrm>
            <a:off x="9066276" y="329184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4</a:t>
            </a:r>
            <a:endParaRPr lang="en-US" sz="2800" dirty="0"/>
          </a:p>
        </p:txBody>
      </p:sp>
      <p:sp>
        <p:nvSpPr>
          <p:cNvPr id="25" name="Pattern matching título"/>
          <p:cNvSpPr txBox="1"/>
          <p:nvPr/>
        </p:nvSpPr>
        <p:spPr>
          <a:xfrm>
            <a:off x="9203436" y="37947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Pattern matching</a:t>
            </a:r>
            <a:endParaRPr lang="en-US" sz="2000" dirty="0"/>
          </a:p>
        </p:txBody>
      </p:sp>
      <p:sp>
        <p:nvSpPr>
          <p:cNvPr id="26" name="Pattern matching resumo"/>
          <p:cNvSpPr txBox="1"/>
          <p:nvPr/>
        </p:nvSpPr>
        <p:spPr>
          <a:xfrm>
            <a:off x="9340596" y="4343400"/>
            <a:ext cx="2020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Tipos com casos (union, Result) tratados com match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Imutabilidade: valores nunca mudam</a:t>
            </a:r>
            <a:endParaRPr lang="en-US" sz="3200" dirty="0"/>
          </a:p>
        </p:txBody>
      </p:sp>
      <p:sp>
        <p:nvSpPr>
          <p:cNvPr id="3" name="Imutabilidade círculo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utabilidade ícone" descr="Imutabilidade 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65760" cy="365760"/>
          </a:xfrm>
          <a:prstGeom prst="rect">
            <a:avLst/>
          </a:prstGeom>
        </p:spPr>
      </p:pic>
      <p:sp>
        <p:nvSpPr>
          <p:cNvPr id="5" name="Imutabilidade nome"/>
          <p:cNvSpPr txBox="1"/>
          <p:nvPr/>
        </p:nvSpPr>
        <p:spPr>
          <a:xfrm>
            <a:off x="1463040" y="1371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PILAR 1</a:t>
            </a:r>
            <a:endParaRPr lang="en-US" sz="1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Imutabilidade</a:t>
            </a:r>
            <a:endParaRPr lang="en-US" sz="1200" dirty="0"/>
          </a:p>
        </p:txBody>
      </p:sp>
      <p:sp>
        <p:nvSpPr>
          <p:cNvPr id="6" name="Imutabilidade definição"/>
          <p:cNvSpPr txBox="1"/>
          <p:nvPr/>
        </p:nvSpPr>
        <p:spPr>
          <a:xfrm>
            <a:off x="548640" y="2286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Depois de criado, um valor não muda. Para "alterar", cria-se uma cópia nova só com o campo diferente.</a:t>
            </a:r>
            <a:endParaRPr lang="en-US" sz="1600" dirty="0"/>
          </a:p>
        </p:txBody>
      </p:sp>
      <p:sp>
        <p:nvSpPr>
          <p:cNvPr id="7" name="Imutabilidade rótulo"/>
          <p:cNvSpPr txBox="1"/>
          <p:nvPr/>
        </p:nvSpPr>
        <p:spPr>
          <a:xfrm>
            <a:off x="54864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 projeto</a:t>
            </a:r>
            <a:endParaRPr lang="en-US" sz="1400" dirty="0"/>
          </a:p>
        </p:txBody>
      </p:sp>
      <p:sp>
        <p:nvSpPr>
          <p:cNvPr id="8" name="Imutabilidade itens"/>
          <p:cNvSpPr txBox="1"/>
          <p:nvPr/>
        </p:nvSpPr>
        <p:spPr>
          <a:xfrm>
            <a:off x="548640" y="388620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Todo e NovaTarefa são records imutáveis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alternarStatus devolve uma tarefa nova com { todo with ... }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repositório em memória guarda um Map imutável</a:t>
            </a:r>
            <a:endParaRPr lang="en-US" sz="1500" dirty="0"/>
          </a:p>
        </p:txBody>
      </p:sp>
      <p:sp>
        <p:nvSpPr>
          <p:cNvPr id="9" name="Imutabilidade fundo"/>
          <p:cNvSpPr/>
          <p:nvPr/>
        </p:nvSpPr>
        <p:spPr>
          <a:xfrm>
            <a:off x="5394960" y="1371600"/>
            <a:ext cx="6245352" cy="4892040"/>
          </a:xfrm>
          <a:prstGeom prst="roundRect">
            <a:avLst>
              <a:gd name="adj" fmla="val 2243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Imutabilidade botão 1"/>
          <p:cNvSpPr/>
          <p:nvPr/>
        </p:nvSpPr>
        <p:spPr>
          <a:xfrm>
            <a:off x="5623560" y="15544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Imutabilidade botão 2"/>
          <p:cNvSpPr/>
          <p:nvPr/>
        </p:nvSpPr>
        <p:spPr>
          <a:xfrm>
            <a:off x="5824728" y="15544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Imutabilidade botão 3"/>
          <p:cNvSpPr/>
          <p:nvPr/>
        </p:nvSpPr>
        <p:spPr>
          <a:xfrm>
            <a:off x="6025896" y="15544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Imutabilidade arquivo"/>
          <p:cNvSpPr txBox="1"/>
          <p:nvPr/>
        </p:nvSpPr>
        <p:spPr>
          <a:xfrm>
            <a:off x="6309360" y="1463040"/>
            <a:ext cx="5148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Domain/Todo.fs · Repositories/Memoria.fs</a:t>
            </a:r>
            <a:endParaRPr lang="en-US" sz="1100" dirty="0"/>
          </a:p>
        </p:txBody>
      </p:sp>
      <p:sp>
        <p:nvSpPr>
          <p:cNvPr id="14" name="Imutabilidade código"/>
          <p:cNvSpPr txBox="1"/>
          <p:nvPr/>
        </p:nvSpPr>
        <p:spPr>
          <a:xfrm>
            <a:off x="5669280" y="1874520"/>
            <a:ext cx="5788152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Id: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Weekday: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Priority: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option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Completed: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"alterar" = criar uma cópia nova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alternarStatus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(todo: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todo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 =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todo.Completed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Memoria.fs: o estado também é imutável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private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Tarefas: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ProximoId: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remover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(estado: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estado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Tarefas =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.remove id estado.Tarefas 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Funções puras: mesma entrada, mesma saída</a:t>
            </a:r>
            <a:endParaRPr lang="en-US" sz="3200" dirty="0"/>
          </a:p>
        </p:txBody>
      </p:sp>
      <p:sp>
        <p:nvSpPr>
          <p:cNvPr id="3" name="Funções puras círculo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Funções puras ícone" descr="Funções puras 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65760" cy="365760"/>
          </a:xfrm>
          <a:prstGeom prst="rect">
            <a:avLst/>
          </a:prstGeom>
        </p:spPr>
      </p:pic>
      <p:sp>
        <p:nvSpPr>
          <p:cNvPr id="5" name="Funções puras nome"/>
          <p:cNvSpPr txBox="1"/>
          <p:nvPr/>
        </p:nvSpPr>
        <p:spPr>
          <a:xfrm>
            <a:off x="1463040" y="1371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PILAR 2</a:t>
            </a:r>
            <a:endParaRPr lang="en-US" sz="1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Funções puras</a:t>
            </a:r>
            <a:endParaRPr lang="en-US" sz="1200" dirty="0"/>
          </a:p>
        </p:txBody>
      </p:sp>
      <p:sp>
        <p:nvSpPr>
          <p:cNvPr id="6" name="Funções puras definição"/>
          <p:cNvSpPr txBox="1"/>
          <p:nvPr/>
        </p:nvSpPr>
        <p:spPr>
          <a:xfrm>
            <a:off x="548640" y="2286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O resultado depende só dos parâmetros: a função não lê nem altera nada fora dela.</a:t>
            </a:r>
            <a:endParaRPr lang="en-US" sz="1600" dirty="0"/>
          </a:p>
        </p:txBody>
      </p:sp>
      <p:sp>
        <p:nvSpPr>
          <p:cNvPr id="7" name="Funções puras rótulo"/>
          <p:cNvSpPr txBox="1"/>
          <p:nvPr/>
        </p:nvSpPr>
        <p:spPr>
          <a:xfrm>
            <a:off x="54864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 projeto</a:t>
            </a:r>
            <a:endParaRPr lang="en-US" sz="1400" dirty="0"/>
          </a:p>
        </p:txBody>
      </p:sp>
      <p:sp>
        <p:nvSpPr>
          <p:cNvPr id="8" name="Funções puras itens"/>
          <p:cNvSpPr txBox="1"/>
          <p:nvPr/>
        </p:nvSpPr>
        <p:spPr>
          <a:xfrm>
            <a:off x="548640" y="388620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validar e alternarStatus não acessam banco nem estado global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Estado.salvar devolve (tarefa, novo estado) em vez de modificar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Mutação e I/O ficam isolados nas bordas: lock, SQLite e HTTP</a:t>
            </a:r>
            <a:endParaRPr lang="en-US" sz="1500" dirty="0"/>
          </a:p>
        </p:txBody>
      </p:sp>
      <p:sp>
        <p:nvSpPr>
          <p:cNvPr id="9" name="Funções puras fundo"/>
          <p:cNvSpPr/>
          <p:nvPr/>
        </p:nvSpPr>
        <p:spPr>
          <a:xfrm>
            <a:off x="5394960" y="1371600"/>
            <a:ext cx="6245352" cy="4892040"/>
          </a:xfrm>
          <a:prstGeom prst="roundRect">
            <a:avLst>
              <a:gd name="adj" fmla="val 2243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Funções puras botão 1"/>
          <p:cNvSpPr/>
          <p:nvPr/>
        </p:nvSpPr>
        <p:spPr>
          <a:xfrm>
            <a:off x="5623560" y="15544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Funções puras botão 2"/>
          <p:cNvSpPr/>
          <p:nvPr/>
        </p:nvSpPr>
        <p:spPr>
          <a:xfrm>
            <a:off x="5824728" y="15544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Funções puras botão 3"/>
          <p:cNvSpPr/>
          <p:nvPr/>
        </p:nvSpPr>
        <p:spPr>
          <a:xfrm>
            <a:off x="6025896" y="15544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Funções puras arquivo"/>
          <p:cNvSpPr txBox="1"/>
          <p:nvPr/>
        </p:nvSpPr>
        <p:spPr>
          <a:xfrm>
            <a:off x="6309360" y="1463040"/>
            <a:ext cx="5148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Domain/Todo.fs · Repositories/Memoria.fs</a:t>
            </a:r>
            <a:endParaRPr lang="en-US" sz="1100" dirty="0"/>
          </a:p>
        </p:txBody>
      </p:sp>
      <p:sp>
        <p:nvSpPr>
          <p:cNvPr id="14" name="Funções puras código"/>
          <p:cNvSpPr txBox="1"/>
          <p:nvPr/>
        </p:nvSpPr>
        <p:spPr>
          <a:xfrm>
            <a:off x="5669280" y="1874520"/>
            <a:ext cx="5788152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(tarefa: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NovaTarefa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possuiTituloValido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tarefa.Title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tarefa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TituloInvalido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(tarefa: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NovaTarefa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(estado: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=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estado.ProximoId tarefa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todo,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Tarefas =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 todo.Id todo estado.Tarefas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ProximoId = estado.ProximoId +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efeito colateral fica isolado na borda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transicionar transicao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trava (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-&gt;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resultado, novoEstado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transicao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atual.Value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atual.Value &lt;- novoEstado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resultado)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Composição: funções encadeadas como peças</a:t>
            </a:r>
            <a:endParaRPr lang="en-US" sz="3200" dirty="0"/>
          </a:p>
        </p:txBody>
      </p:sp>
      <p:sp>
        <p:nvSpPr>
          <p:cNvPr id="3" name="Composição círculo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Composição ícone" descr="Composição 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65760" cy="365760"/>
          </a:xfrm>
          <a:prstGeom prst="rect">
            <a:avLst/>
          </a:prstGeom>
        </p:spPr>
      </p:pic>
      <p:sp>
        <p:nvSpPr>
          <p:cNvPr id="5" name="Composição nome"/>
          <p:cNvSpPr txBox="1"/>
          <p:nvPr/>
        </p:nvSpPr>
        <p:spPr>
          <a:xfrm>
            <a:off x="1463040" y="1371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PILAR 3</a:t>
            </a:r>
            <a:endParaRPr lang="en-US" sz="1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Composição</a:t>
            </a:r>
            <a:endParaRPr lang="en-US" sz="1200" dirty="0"/>
          </a:p>
        </p:txBody>
      </p:sp>
      <p:sp>
        <p:nvSpPr>
          <p:cNvPr id="6" name="Composição definição"/>
          <p:cNvSpPr txBox="1"/>
          <p:nvPr/>
        </p:nvSpPr>
        <p:spPr>
          <a:xfrm>
            <a:off x="548640" y="2286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Funções são valores: podem ser passadas como parâmetro, guardadas em records e encadeadas com o operador |&gt;.</a:t>
            </a:r>
            <a:endParaRPr lang="en-US" sz="1600" dirty="0"/>
          </a:p>
        </p:txBody>
      </p:sp>
      <p:sp>
        <p:nvSpPr>
          <p:cNvPr id="7" name="Composição rótulo"/>
          <p:cNvSpPr txBox="1"/>
          <p:nvPr/>
        </p:nvSpPr>
        <p:spPr>
          <a:xfrm>
            <a:off x="54864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 projeto</a:t>
            </a:r>
            <a:endParaRPr lang="en-US" sz="1400" dirty="0"/>
          </a:p>
        </p:txBody>
      </p:sp>
      <p:sp>
        <p:nvSpPr>
          <p:cNvPr id="8" name="Composição itens"/>
          <p:cNvSpPr txBox="1"/>
          <p:nvPr/>
        </p:nvSpPr>
        <p:spPr>
          <a:xfrm>
            <a:off x="548640" y="388620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TodoService encadeia os passos com |&gt; e Result.map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TodoRepository é um record de funções, no lugar da interface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Sqlite.executar recebe como parâmetro a função que lê o resultado</a:t>
            </a:r>
            <a:endParaRPr lang="en-US" sz="1500" dirty="0"/>
          </a:p>
        </p:txBody>
      </p:sp>
      <p:sp>
        <p:nvSpPr>
          <p:cNvPr id="9" name="Composição fundo"/>
          <p:cNvSpPr/>
          <p:nvPr/>
        </p:nvSpPr>
        <p:spPr>
          <a:xfrm>
            <a:off x="5394960" y="1371600"/>
            <a:ext cx="6245352" cy="4892040"/>
          </a:xfrm>
          <a:prstGeom prst="roundRect">
            <a:avLst>
              <a:gd name="adj" fmla="val 2243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Composição botão 1"/>
          <p:cNvSpPr/>
          <p:nvPr/>
        </p:nvSpPr>
        <p:spPr>
          <a:xfrm>
            <a:off x="5623560" y="15544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Composição botão 2"/>
          <p:cNvSpPr/>
          <p:nvPr/>
        </p:nvSpPr>
        <p:spPr>
          <a:xfrm>
            <a:off x="5824728" y="15544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Composição botão 3"/>
          <p:cNvSpPr/>
          <p:nvPr/>
        </p:nvSpPr>
        <p:spPr>
          <a:xfrm>
            <a:off x="6025896" y="15544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Composição arquivo"/>
          <p:cNvSpPr txBox="1"/>
          <p:nvPr/>
        </p:nvSpPr>
        <p:spPr>
          <a:xfrm>
            <a:off x="6309360" y="1463040"/>
            <a:ext cx="5148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Services/TodoService.fs · Repositories/</a:t>
            </a:r>
            <a:endParaRPr lang="en-US" sz="1100" dirty="0"/>
          </a:p>
        </p:txBody>
      </p:sp>
      <p:sp>
        <p:nvSpPr>
          <p:cNvPr id="14" name="Composição código"/>
          <p:cNvSpPr txBox="1"/>
          <p:nvPr/>
        </p:nvSpPr>
        <p:spPr>
          <a:xfrm>
            <a:off x="5669280" y="1874520"/>
            <a:ext cx="5788152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Pipeline: a saída de um passo entra no próximo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alternarStatus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(repository: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TodoRepository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id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|&gt;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buscarTarefaExistente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|&gt;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alternarStatus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|&gt;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repository.Atualizar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repositório é um record de funções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TodoRepository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Salvar: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NovaTarefa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ListarTodos: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Atualizar: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Remover: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BuscarPorId: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option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Alta ordem: executar recebe outra função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executar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todos" </a:t>
            </a:r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lerTarefas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matching: erros como valores</a:t>
            </a:r>
            <a:endParaRPr lang="en-US" sz="3200" dirty="0"/>
          </a:p>
        </p:txBody>
      </p:sp>
      <p:sp>
        <p:nvSpPr>
          <p:cNvPr id="3" name="Pattern matching círculo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" name="Pattern matching ícone" descr="Pattern matching 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65760" cy="365760"/>
          </a:xfrm>
          <a:prstGeom prst="rect">
            <a:avLst/>
          </a:prstGeom>
        </p:spPr>
      </p:pic>
      <p:sp>
        <p:nvSpPr>
          <p:cNvPr id="5" name="Pattern matching nome"/>
          <p:cNvSpPr txBox="1"/>
          <p:nvPr/>
        </p:nvSpPr>
        <p:spPr>
          <a:xfrm>
            <a:off x="1463040" y="1371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PILAR 4</a:t>
            </a:r>
            <a:endParaRPr lang="en-US" sz="1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Pattern matching</a:t>
            </a:r>
            <a:endParaRPr lang="en-US" sz="1200" dirty="0"/>
          </a:p>
        </p:txBody>
      </p:sp>
      <p:sp>
        <p:nvSpPr>
          <p:cNvPr id="6" name="Pattern matching definição"/>
          <p:cNvSpPr txBox="1"/>
          <p:nvPr/>
        </p:nvSpPr>
        <p:spPr>
          <a:xfrm>
            <a:off x="548640" y="2286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Os dados são modelados como casos (union, option, Result) e tratados com match, que obriga a cobrir todos eles.</a:t>
            </a:r>
            <a:endParaRPr lang="en-US" sz="1600" dirty="0"/>
          </a:p>
        </p:txBody>
      </p:sp>
      <p:sp>
        <p:nvSpPr>
          <p:cNvPr id="7" name="Pattern matching rótulo"/>
          <p:cNvSpPr txBox="1"/>
          <p:nvPr/>
        </p:nvSpPr>
        <p:spPr>
          <a:xfrm>
            <a:off x="54864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 projeto</a:t>
            </a:r>
            <a:endParaRPr lang="en-US" sz="1400" dirty="0"/>
          </a:p>
        </p:txBody>
      </p:sp>
      <p:sp>
        <p:nvSpPr>
          <p:cNvPr id="8" name="Pattern matching itens"/>
          <p:cNvSpPr txBox="1"/>
          <p:nvPr/>
        </p:nvSpPr>
        <p:spPr>
          <a:xfrm>
            <a:off x="548640" y="388620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Erros de negócio viram valores do tipo TodoErro, não exceções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Result&lt;'T, TodoErro&gt; deixa explícito que a operação pode falhar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Todo option substitui o null em BuscarPorId</a:t>
            </a:r>
            <a:endParaRPr lang="en-US" sz="1500" dirty="0"/>
          </a:p>
        </p:txBody>
      </p:sp>
      <p:sp>
        <p:nvSpPr>
          <p:cNvPr id="9" name="Pattern matching fundo"/>
          <p:cNvSpPr/>
          <p:nvPr/>
        </p:nvSpPr>
        <p:spPr>
          <a:xfrm>
            <a:off x="5394960" y="1371600"/>
            <a:ext cx="6245352" cy="4892040"/>
          </a:xfrm>
          <a:prstGeom prst="roundRect">
            <a:avLst>
              <a:gd name="adj" fmla="val 2243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Pattern matching botão 1"/>
          <p:cNvSpPr/>
          <p:nvPr/>
        </p:nvSpPr>
        <p:spPr>
          <a:xfrm>
            <a:off x="5623560" y="15544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Pattern matching botão 2"/>
          <p:cNvSpPr/>
          <p:nvPr/>
        </p:nvSpPr>
        <p:spPr>
          <a:xfrm>
            <a:off x="5824728" y="15544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Pattern matching botão 3"/>
          <p:cNvSpPr/>
          <p:nvPr/>
        </p:nvSpPr>
        <p:spPr>
          <a:xfrm>
            <a:off x="6025896" y="15544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Pattern matching arquivo"/>
          <p:cNvSpPr txBox="1"/>
          <p:nvPr/>
        </p:nvSpPr>
        <p:spPr>
          <a:xfrm>
            <a:off x="6309360" y="1463040"/>
            <a:ext cx="5148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Domain/Todo.fs · Http/Rotas.fs</a:t>
            </a:r>
            <a:endParaRPr lang="en-US" sz="1100" dirty="0"/>
          </a:p>
        </p:txBody>
      </p:sp>
      <p:sp>
        <p:nvSpPr>
          <p:cNvPr id="14" name="Pattern matching código"/>
          <p:cNvSpPr txBox="1"/>
          <p:nvPr/>
        </p:nvSpPr>
        <p:spPr>
          <a:xfrm>
            <a:off x="5669280" y="1874520"/>
            <a:ext cx="5788152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Union: um valor é exatamente um dos casos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TodoErro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TituloInvalido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TarefaNaoEncontrada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match cobre todos os casos (o compilador confere)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TituloInvalido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StatusCodes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.Status400BadRequest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TarefaNaoEncontrada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 -&gt;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StatusCodes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.Status404NotFound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responder sucesso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-&gt;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sucesso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({| erro =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TodoErro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mensagem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|},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 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POO em C# ao funcional em F#</a:t>
            </a:r>
            <a:endParaRPr lang="en-US" sz="3200" dirty="0"/>
          </a:p>
        </p:txBody>
      </p:sp>
      <p:graphicFrame>
        <p:nvGraphicFramePr>
          <p:cNvPr id="11" name="Tabela de comparaçã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43984"/>
                <a:gridCol w="44531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 (orientado a objetos)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F# (funcional)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Todo com campos privados e setters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imutável, copiado com with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Métodos que alteram o próprio objeto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Funções puras que devolvem valores novos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ITodoRepository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de funções TodoRepository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Dependências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Injeção pelo construtor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Repositório passado como parâmetro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ausente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Todo? (pode ser null)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option (Some / None)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Herança de exceções + filtro 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TodoErro + Result + match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Observação comparação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Mesmas rotas, mesmo JSON e o mesmo front-end: só o paradigma do back-end mudou.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a Funcional">
  <a:themeElements>
    <a:clrScheme name="Paradigma Funcional">
      <a:dk1>
        <a:srgbClr val="1A1033"/>
      </a:dk1>
      <a:lt1>
        <a:srgbClr val="FFFFFF"/>
      </a:lt1>
      <a:dk2>
        <a:srgbClr val="2D1B69"/>
      </a:dk2>
      <a:lt2>
        <a:srgbClr val="F3F0FA"/>
      </a:lt2>
      <a:accent1>
        <a:srgbClr val="512BD4"/>
      </a:accent1>
      <a:accent2>
        <a:srgbClr val="00A396"/>
      </a:accent2>
      <a:accent3>
        <a:srgbClr val="E08A00"/>
      </a:accent3>
      <a:accent4>
        <a:srgbClr val="D6456B"/>
      </a:accent4>
      <a:accent5>
        <a:srgbClr val="1E1E2E"/>
      </a:accent5>
      <a:accent6>
        <a:srgbClr val="6B6880"/>
      </a:accent6>
      <a:hlink>
        <a:srgbClr val="512BD4"/>
      </a:hlink>
      <a:folHlink>
        <a:srgbClr val="6B6880"/>
      </a:folHlink>
    </a:clrScheme>
    <a:fontScheme name="Paradigma Funcion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 Funcional em F# – To-Do List</dc:title>
  <dc:subject>PptxGenJS Presentation</dc:subject>
  <dc:creator>To-Do List</dc:creator>
  <cp:lastModifiedBy>To-Do List</cp:lastModifiedBy>
  <cp:revision>1</cp:revision>
  <dcterms:created xsi:type="dcterms:W3CDTF">2026-10-26T12:09:45Z</dcterms:created>
  <dcterms:modified xsi:type="dcterms:W3CDTF">2026-10-26T12:09:45Z</dcterms:modified>
</cp:coreProperties>
</file>